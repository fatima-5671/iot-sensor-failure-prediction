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sldIdLst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96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91308-80F0-9EAB-A215-4B3BB8372A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F8EAA-7BEC-740B-6A5A-4D50DC6826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F50B5-16FF-5298-352F-831F0DA10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9F066-44DB-4421-8086-806914A0E2CA}" type="datetime8">
              <a:rPr lang="en-PK" smtClean="0"/>
              <a:t>25/05/2026 5:14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E2202-51B3-6E9D-B10D-29A40A301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445F80-A880-BC79-5C35-F07BB97E0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12DA6-1505-46D9-85DA-EDE605CD1A8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28849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0D69F-0C3F-5C24-26CF-AB1B6654F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0D24D-D77C-6AE7-EFD9-C43B609D6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5E20CD-36AC-7157-6A5A-BD40CD4B6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3D2B-E73E-41D6-92AE-F71D1665CB7F}" type="datetime8">
              <a:rPr lang="en-PK" smtClean="0"/>
              <a:t>25/05/2026 5:14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E2DCF-9247-2BC1-908C-1223994F0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5C4B8-0620-2771-A55C-2CB97867F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12DA6-1505-46D9-85DA-EDE605CD1A8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04709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30AC8-6514-13E2-5C5D-C5A271B19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3EF1EA-DACD-9D33-D049-66EE62A0BC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71CD7-6109-8349-A1C5-7EC3CEFB4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D417B-A076-4AAB-82D1-74AFDCB38121}" type="datetime8">
              <a:rPr lang="en-PK" smtClean="0"/>
              <a:t>25/05/2026 5:14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73756-229C-2ED2-9B74-049DE34DF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9E2D5-46C6-88E7-0BB6-8B50B1F27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12DA6-1505-46D9-85DA-EDE605CD1A8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593179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FF287-761E-F09F-B8C2-FE8C899FA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C933A-DDF1-CEFD-B256-DF5E5ABE09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F15863-55FF-79FE-134B-75E51614C9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A8C770-49B0-F98C-CCBD-B8F237C01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2296A-CB98-4C75-937C-1AB562D602A4}" type="datetime8">
              <a:rPr lang="en-PK" smtClean="0"/>
              <a:t>25/05/2026 5:14 pm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9C7171-1CF8-9593-BCC7-64261A9E4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C8F00-C61A-EC83-B984-B7541D0F7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12DA6-1505-46D9-85DA-EDE605CD1A8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464940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A750D-3FF9-8AD2-1DD4-90873C006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BFB5A-D722-E4C1-675C-B976B7C48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8B11C5-53E7-91FC-456C-4EB28578CF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BD26C0-315E-943A-DE0B-72E21992CE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D4B8D9-FA0D-3EF5-BF18-2498D43658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2C1ECC-5E85-0283-8CDC-638245B31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B5DCB-2AC5-40F4-AC9E-31361241ADD6}" type="datetime8">
              <a:rPr lang="en-PK" smtClean="0"/>
              <a:t>25/05/2026 5:14 pm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13C812-8560-0AA0-6BB6-E79DF963C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A301FA-5E81-45F4-1B6D-2F227DD5D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12DA6-1505-46D9-85DA-EDE605CD1A8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747934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8AE36-B92B-D509-50FE-D5F5B3169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1D8186-D10A-78B0-16CD-8504B0678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666D3-46BB-46F0-B48B-6B25714A1503}" type="datetime8">
              <a:rPr lang="en-PK" smtClean="0"/>
              <a:t>25/05/2026 5:14 pm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A6EA7E-5B0E-060A-C718-7D5000998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147169-3473-136C-0AE7-90BB07C72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12DA6-1505-46D9-85DA-EDE605CD1A8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839329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8FCF8F-1FD0-0507-8DC7-427562B03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F90C9-9242-4037-A997-068C9937DC7A}" type="datetime8">
              <a:rPr lang="en-PK" smtClean="0"/>
              <a:t>25/05/2026 5:14 pm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DCCE5B-CC91-B0C3-0473-6D0391531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20F9D0-C712-5AF2-86E3-24E56BE38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12DA6-1505-46D9-85DA-EDE605CD1A8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106204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34D43-A60E-9528-C9BE-370FC3C71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CBBEF-0CE8-0FC9-2E7F-0482D5FB8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35413A-5F82-9527-D390-7C800A1948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E8CD52-D533-B345-C494-21FF5CAF9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58242-CC2D-4606-8CB8-C804DA7E42AB}" type="datetime8">
              <a:rPr lang="en-PK" smtClean="0"/>
              <a:t>25/05/2026 5:14 pm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82208C-76A4-0FF7-5402-B8C9478B7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877A0E-0A7F-D505-9DD6-DC3A5E70B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12DA6-1505-46D9-85DA-EDE605CD1A8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173401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F477D-1600-75E3-A9FB-0FDB5F357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1644DB-536D-A28E-E94F-F7B94AF073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EACD93-8A4D-059F-5879-107316A25B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7ADF83-096C-7B1B-24FD-72A438B63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C7691-A6FC-4D3F-B434-5FDD56BCD39F}" type="datetime8">
              <a:rPr lang="en-PK" smtClean="0"/>
              <a:t>25/05/2026 5:14 pm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C3A8BA-2E4D-6C55-54B7-FF603C831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010D1E-0B34-0C07-91FC-59E9683F3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12DA6-1505-46D9-85DA-EDE605CD1A8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686419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D7D58-642F-9FFA-A074-90D9A793B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5643CE-379D-A731-E316-353B783A0C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164E1-237D-9BA3-9A5E-8713DE221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76D1A-DCB9-4A64-AB0A-CE10A589A854}" type="datetime8">
              <a:rPr lang="en-PK" smtClean="0"/>
              <a:t>25/05/2026 5:14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1A56D-D41A-9890-E1A7-9BD76AF07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6B3C1-7CB5-4BD9-9727-56B859270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12DA6-1505-46D9-85DA-EDE605CD1A8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408512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42F65F-D9BB-A093-043A-13071B6FC7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528647-84F7-AFC9-74E1-39972E443B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D899D-ACEB-EC4F-70F7-A98DFE000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DBC3E-3FDE-40F3-8686-DC1B8E8A3035}" type="datetime8">
              <a:rPr lang="en-PK" smtClean="0"/>
              <a:t>25/05/2026 5:14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2C97F-6E19-0D9B-75A4-05752A024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06E93-0C56-F8FA-5CCE-CB0B21A0E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12DA6-1505-46D9-85DA-EDE605CD1A8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10006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F4242F-39AA-DFD2-EA35-8DD28C9AF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80CAB5-2937-51FD-4441-78C59AAF7E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4C2947-5C5D-2D8F-A610-D59B17ED8C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86EF59-BC31-4048-B47D-B556AE1EBFE6}" type="datetime8">
              <a:rPr lang="en-PK" smtClean="0"/>
              <a:t>25/05/2026 5:14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5534A-0607-2D4F-9E66-A461BC982F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EC161-7A86-109D-EC3A-ACBAFC6725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812DA6-1505-46D9-85DA-EDE605CD1A8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51598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7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37BDF-B223-2BD3-0193-403C4295F7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6858000" cy="2464558"/>
          </a:xfrm>
        </p:spPr>
        <p:txBody>
          <a:bodyPr>
            <a:normAutofit/>
          </a:bodyPr>
          <a:lstStyle/>
          <a:p>
            <a:pPr algn="l"/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endParaRPr lang="en-PK" b="1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92BAD6-3B9A-8B98-F732-F79114052850}"/>
              </a:ext>
            </a:extLst>
          </p:cNvPr>
          <p:cNvSpPr txBox="1"/>
          <p:nvPr/>
        </p:nvSpPr>
        <p:spPr>
          <a:xfrm>
            <a:off x="73815" y="1976234"/>
            <a:ext cx="40728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500" b="1" i="1" dirty="0">
                <a:solidFill>
                  <a:prstClr val="white"/>
                </a:solidFill>
                <a:latin typeface="Calibri "/>
              </a:rPr>
              <a:t>Using Apache Kafka and Spark </a:t>
            </a:r>
            <a:r>
              <a:rPr lang="en-US" sz="1500" b="1" i="1" dirty="0" err="1">
                <a:solidFill>
                  <a:prstClr val="white"/>
                </a:solidFill>
                <a:latin typeface="Calibri "/>
              </a:rPr>
              <a:t>MLlib</a:t>
            </a:r>
            <a:endParaRPr lang="en-PK" sz="1500" b="1" i="1" dirty="0">
              <a:solidFill>
                <a:prstClr val="white"/>
              </a:solidFill>
              <a:latin typeface="Calibri 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08F21-FA42-8A35-70C3-53A098913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17812DA6-1505-46D9-85DA-EDE605CD1A81}" type="slidenum">
              <a:rPr lang="en-PK">
                <a:solidFill>
                  <a:prstClr val="black">
                    <a:tint val="82000"/>
                  </a:prstClr>
                </a:solidFill>
                <a:latin typeface="Aptos" panose="02110004020202020204"/>
              </a:rPr>
              <a:pPr defTabSz="685800"/>
              <a:t>1</a:t>
            </a:fld>
            <a:endParaRPr lang="en-PK">
              <a:solidFill>
                <a:prstClr val="black">
                  <a:tint val="82000"/>
                </a:prstClr>
              </a:solidFill>
              <a:latin typeface="Aptos" panose="02110004020202020204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553CB92-DC37-BD8A-BF3C-436E93B034C9}"/>
              </a:ext>
            </a:extLst>
          </p:cNvPr>
          <p:cNvSpPr txBox="1">
            <a:spLocks/>
          </p:cNvSpPr>
          <p:nvPr/>
        </p:nvSpPr>
        <p:spPr>
          <a:xfrm>
            <a:off x="-534106" y="2383271"/>
            <a:ext cx="3275044" cy="921662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>
              <a:spcBef>
                <a:spcPts val="750"/>
              </a:spcBef>
            </a:pPr>
            <a:r>
              <a:rPr lang="en-US" sz="2000" dirty="0">
                <a:solidFill>
                  <a:prstClr val="white"/>
                </a:solidFill>
                <a:latin typeface="Calibri "/>
                <a:ea typeface="Calibri Light" panose="020F0302020204030204" pitchFamily="34" charset="0"/>
                <a:cs typeface="Calibri Light" panose="020F0302020204030204" pitchFamily="34" charset="0"/>
              </a:rPr>
              <a:t>Big Data Analytics</a:t>
            </a:r>
          </a:p>
          <a:p>
            <a:pPr defTabSz="685800">
              <a:spcBef>
                <a:spcPts val="750"/>
              </a:spcBef>
            </a:pPr>
            <a:r>
              <a:rPr lang="en-US" sz="2000" dirty="0">
                <a:solidFill>
                  <a:prstClr val="white"/>
                </a:solidFill>
                <a:latin typeface="Calibri "/>
                <a:ea typeface="Calibri Light" panose="020F0302020204030204" pitchFamily="34" charset="0"/>
                <a:cs typeface="Calibri Light" panose="020F0302020204030204" pitchFamily="34" charset="0"/>
              </a:rPr>
              <a:t>Fatima | Maryam</a:t>
            </a:r>
            <a:endParaRPr lang="en-PK" sz="2000" dirty="0">
              <a:solidFill>
                <a:prstClr val="white"/>
              </a:solidFill>
              <a:latin typeface="Calibri 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CA05BA-B4BE-B220-95A8-182344ACCDED}"/>
              </a:ext>
            </a:extLst>
          </p:cNvPr>
          <p:cNvSpPr txBox="1"/>
          <p:nvPr/>
        </p:nvSpPr>
        <p:spPr>
          <a:xfrm>
            <a:off x="132522" y="611091"/>
            <a:ext cx="838282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IoT Sensor Data Processing &amp; Machine Failure Prediction</a:t>
            </a:r>
            <a:endParaRPr lang="en-PK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9F6A01-AE57-97F4-663F-5DE6F61C9BF8}"/>
              </a:ext>
            </a:extLst>
          </p:cNvPr>
          <p:cNvSpPr txBox="1"/>
          <p:nvPr/>
        </p:nvSpPr>
        <p:spPr>
          <a:xfrm>
            <a:off x="132522" y="202665"/>
            <a:ext cx="6217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4D8"/>
                </a:solidFill>
                <a:latin typeface="Calibri"/>
              </a:defRPr>
            </a:pPr>
            <a:r>
              <a:t>CSDS4473  ·  BIG DATA ANALYTICS</a:t>
            </a:r>
          </a:p>
        </p:txBody>
      </p:sp>
    </p:spTree>
    <p:extLst>
      <p:ext uri="{BB962C8B-B14F-4D97-AF65-F5344CB8AC3E}">
        <p14:creationId xmlns:p14="http://schemas.microsoft.com/office/powerpoint/2010/main" val="92479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41248"/>
            <a:ext cx="2651760" cy="1463040"/>
          </a:xfrm>
          <a:prstGeom prst="rect">
            <a:avLst/>
          </a:prstGeom>
          <a:solidFill>
            <a:srgbClr val="1B2D45"/>
          </a:solidFill>
          <a:ln>
            <a:solidFill>
              <a:srgbClr val="1B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841248"/>
            <a:ext cx="2651760" cy="64008"/>
          </a:xfrm>
          <a:prstGeom prst="rect">
            <a:avLst/>
          </a:prstGeom>
          <a:solidFill>
            <a:srgbClr val="FFC300"/>
          </a:solidFill>
          <a:ln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377440" y="100584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FFC30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1554480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sz="1400" dirty="0"/>
              <a:t>Problem &amp; Motivation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841248"/>
            <a:ext cx="2651760" cy="1463040"/>
          </a:xfrm>
          <a:prstGeom prst="rect">
            <a:avLst/>
          </a:prstGeom>
          <a:solidFill>
            <a:srgbClr val="1B2D45"/>
          </a:solidFill>
          <a:ln>
            <a:solidFill>
              <a:srgbClr val="1B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46120" y="841248"/>
            <a:ext cx="2651760" cy="64008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80" y="100584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00B4D8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0712" y="1554480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sz="1400" dirty="0"/>
              <a:t>System Architecture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841248"/>
            <a:ext cx="2651760" cy="1463040"/>
          </a:xfrm>
          <a:prstGeom prst="rect">
            <a:avLst/>
          </a:prstGeom>
          <a:solidFill>
            <a:srgbClr val="1B2D45"/>
          </a:solidFill>
          <a:ln>
            <a:solidFill>
              <a:srgbClr val="1B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80760" y="841248"/>
            <a:ext cx="2651760" cy="64008"/>
          </a:xfrm>
          <a:prstGeom prst="rect">
            <a:avLst/>
          </a:prstGeom>
          <a:solidFill>
            <a:srgbClr val="06D6A0"/>
          </a:solidFill>
          <a:ln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0" y="100584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06D6A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5352" y="1554480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sz="1400" dirty="0"/>
              <a:t>Dataset &amp; Features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487168"/>
            <a:ext cx="2651760" cy="1463040"/>
          </a:xfrm>
          <a:prstGeom prst="rect">
            <a:avLst/>
          </a:prstGeom>
          <a:solidFill>
            <a:srgbClr val="1B2D45"/>
          </a:solidFill>
          <a:ln>
            <a:solidFill>
              <a:srgbClr val="1B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11480" y="2487168"/>
            <a:ext cx="2651760" cy="64008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77440" y="265176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00B4D8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3200400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sz="1400" dirty="0"/>
              <a:t>Kafka Streaming Pipeline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2487168"/>
            <a:ext cx="2651760" cy="1463040"/>
          </a:xfrm>
          <a:prstGeom prst="rect">
            <a:avLst/>
          </a:prstGeom>
          <a:solidFill>
            <a:srgbClr val="1B2D45"/>
          </a:solidFill>
          <a:ln>
            <a:solidFill>
              <a:srgbClr val="1B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46120" y="2487168"/>
            <a:ext cx="2651760" cy="64008"/>
          </a:xfrm>
          <a:prstGeom prst="rect">
            <a:avLst/>
          </a:prstGeom>
          <a:solidFill>
            <a:srgbClr val="FFC300"/>
          </a:solidFill>
          <a:ln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12080" y="265176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FFC300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0712" y="3200400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sz="1400" dirty="0"/>
              <a:t>ML Model (Spark </a:t>
            </a:r>
            <a:r>
              <a:rPr sz="1400" dirty="0" err="1"/>
              <a:t>MLlib</a:t>
            </a:r>
            <a:r>
              <a:rPr sz="1400" dirty="0"/>
              <a:t>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60" y="2487168"/>
            <a:ext cx="2651760" cy="1463040"/>
          </a:xfrm>
          <a:prstGeom prst="rect">
            <a:avLst/>
          </a:prstGeom>
          <a:solidFill>
            <a:srgbClr val="1B2D45"/>
          </a:solidFill>
          <a:ln>
            <a:solidFill>
              <a:srgbClr val="1B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080760" y="2487168"/>
            <a:ext cx="2651760" cy="64008"/>
          </a:xfrm>
          <a:prstGeom prst="rect">
            <a:avLst/>
          </a:prstGeom>
          <a:solidFill>
            <a:srgbClr val="06D6A0"/>
          </a:solidFill>
          <a:ln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0" y="265176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06D6A0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5352" y="3200400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sz="1400" dirty="0"/>
              <a:t>Results &amp; Insights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Calibri"/>
              </a:defRPr>
            </a:pPr>
            <a: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365760"/>
            <a:ext cx="3108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Problem &amp;</a:t>
            </a:r>
            <a:br/>
            <a: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88036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EF233C"/>
                </a:solidFill>
                <a:latin typeface="Calibri"/>
              </a:defRPr>
            </a:pPr>
            <a:r>
              <a:t>3.4%</a:t>
            </a:r>
          </a:p>
          <a:p>
            <a:pPr>
              <a:defRPr sz="1200">
                <a:solidFill>
                  <a:srgbClr val="CBD5E1"/>
                </a:solidFill>
                <a:latin typeface="Calibri"/>
              </a:defRPr>
            </a:pPr>
            <a:r>
              <a:t>failure rate in 10,000</a:t>
            </a:r>
            <a:br/>
            <a:r>
              <a:t>machine readings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0" y="320040"/>
            <a:ext cx="64008" cy="1234440"/>
          </a:xfrm>
          <a:prstGeom prst="rect">
            <a:avLst/>
          </a:prstGeom>
          <a:solidFill>
            <a:srgbClr val="FFC300"/>
          </a:solidFill>
          <a:ln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069080" y="320040"/>
            <a:ext cx="4846320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1B2A"/>
                </a:solidFill>
                <a:latin typeface="Calibri"/>
              </a:defRPr>
            </a:pPr>
            <a:r>
              <a:rPr dirty="0"/>
              <a:t>The Challenge</a:t>
            </a:r>
          </a:p>
          <a:p>
            <a:pPr>
              <a:defRPr sz="1200">
                <a:solidFill>
                  <a:srgbClr val="334155"/>
                </a:solidFill>
                <a:latin typeface="Calibri"/>
              </a:defRPr>
            </a:pPr>
            <a:r>
              <a:rPr sz="1400" dirty="0"/>
              <a:t>Industrial machines generate continuous sensor data. Traditional batch monitoring systems fail to detect faults in time, causing costly unplanned downtime.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1828800"/>
            <a:ext cx="64008" cy="1234440"/>
          </a:xfrm>
          <a:prstGeom prst="rect">
            <a:avLst/>
          </a:prstGeom>
          <a:solidFill>
            <a:srgbClr val="EF233C"/>
          </a:solidFill>
          <a:ln>
            <a:solidFill>
              <a:srgbClr val="EF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69080" y="1828800"/>
            <a:ext cx="4846320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1B2A"/>
                </a:solidFill>
                <a:latin typeface="Calibri"/>
              </a:defRPr>
            </a:pPr>
            <a:r>
              <a:rPr dirty="0"/>
              <a:t>The Cost</a:t>
            </a:r>
          </a:p>
          <a:p>
            <a:pPr>
              <a:defRPr sz="1200">
                <a:solidFill>
                  <a:srgbClr val="334155"/>
                </a:solidFill>
                <a:latin typeface="Calibri"/>
              </a:defRPr>
            </a:pPr>
            <a:r>
              <a:rPr sz="1400" dirty="0"/>
              <a:t>Equipment failures account for 5–20% of production losses in manufacturing. Early detection can reduce downtime by up to 40%.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3337560"/>
            <a:ext cx="64008" cy="1234440"/>
          </a:xfrm>
          <a:prstGeom prst="rect">
            <a:avLst/>
          </a:prstGeom>
          <a:solidFill>
            <a:srgbClr val="06D6A0"/>
          </a:solidFill>
          <a:ln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69080" y="3337560"/>
            <a:ext cx="4846320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1B2A"/>
                </a:solidFill>
                <a:latin typeface="Calibri"/>
              </a:defRPr>
            </a:pPr>
            <a:r>
              <a:rPr dirty="0"/>
              <a:t>Our Solution</a:t>
            </a:r>
          </a:p>
          <a:p>
            <a:pPr>
              <a:defRPr sz="1200">
                <a:solidFill>
                  <a:srgbClr val="334155"/>
                </a:solidFill>
                <a:latin typeface="Calibri"/>
              </a:defRPr>
            </a:pPr>
            <a:r>
              <a:rPr sz="1400" dirty="0"/>
              <a:t>A real-time Kafka + Spark pipeline with a Random Forest classifier that predicts machine failure before it occurs, enabling proactive maintenance.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Calibri"/>
              </a:defRPr>
            </a:pPr>
            <a: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00B4D8"/>
                </a:solidFill>
                <a:latin typeface="Calibri"/>
              </a:defRPr>
            </a:pPr>
            <a:r>
              <a:t>End-to-end real-time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3" y="1005840"/>
            <a:ext cx="1463040" cy="2011680"/>
          </a:xfrm>
          <a:prstGeom prst="rect">
            <a:avLst/>
          </a:prstGeom>
          <a:solidFill>
            <a:srgbClr val="1B2D45"/>
          </a:solidFill>
          <a:ln>
            <a:solidFill>
              <a:srgbClr val="1B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94943" y="1005840"/>
            <a:ext cx="1463040" cy="64008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4943" y="1737360"/>
            <a:ext cx="146304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sz="1600" dirty="0"/>
              <a:t>IoT Sensors</a:t>
            </a:r>
          </a:p>
          <a:p>
            <a:pPr algn="ctr">
              <a:defRPr sz="900">
                <a:solidFill>
                  <a:srgbClr val="94A3B8"/>
                </a:solidFill>
                <a:latin typeface="Calibri"/>
              </a:defRPr>
            </a:pPr>
            <a:r>
              <a:rPr sz="1050" dirty="0"/>
              <a:t>Simulated via Kafka Producer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157984" y="1988820"/>
            <a:ext cx="109728" cy="45720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267712" y="1005840"/>
            <a:ext cx="1463040" cy="2011680"/>
          </a:xfrm>
          <a:prstGeom prst="rect">
            <a:avLst/>
          </a:prstGeom>
          <a:solidFill>
            <a:srgbClr val="1B2D45"/>
          </a:solidFill>
          <a:ln>
            <a:solidFill>
              <a:srgbClr val="1B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267712" y="1005840"/>
            <a:ext cx="1463040" cy="64008"/>
          </a:xfrm>
          <a:prstGeom prst="rect">
            <a:avLst/>
          </a:prstGeom>
          <a:solidFill>
            <a:srgbClr val="FFC300"/>
          </a:solidFill>
          <a:ln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67712" y="1737360"/>
            <a:ext cx="146304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sz="1600" dirty="0"/>
              <a:t>Apache Kafka</a:t>
            </a:r>
          </a:p>
          <a:p>
            <a:pPr algn="ctr">
              <a:defRPr sz="900">
                <a:solidFill>
                  <a:srgbClr val="94A3B8"/>
                </a:solidFill>
                <a:latin typeface="Calibri"/>
              </a:defRPr>
            </a:pPr>
            <a:r>
              <a:rPr sz="1050" dirty="0"/>
              <a:t>Topic: </a:t>
            </a:r>
            <a:r>
              <a:rPr sz="1050" dirty="0" err="1"/>
              <a:t>iot</a:t>
            </a:r>
            <a:r>
              <a:rPr sz="1050" dirty="0"/>
              <a:t>-sensors | 9092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30752" y="1988820"/>
            <a:ext cx="109728" cy="45720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840480" y="1005840"/>
            <a:ext cx="1463040" cy="2011680"/>
          </a:xfrm>
          <a:prstGeom prst="rect">
            <a:avLst/>
          </a:prstGeom>
          <a:solidFill>
            <a:srgbClr val="1B2D45"/>
          </a:solidFill>
          <a:ln>
            <a:solidFill>
              <a:srgbClr val="1B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840480" y="1005840"/>
            <a:ext cx="1463040" cy="64008"/>
          </a:xfrm>
          <a:prstGeom prst="rect">
            <a:avLst/>
          </a:prstGeom>
          <a:solidFill>
            <a:srgbClr val="0096C7"/>
          </a:solidFill>
          <a:ln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40480" y="1737360"/>
            <a:ext cx="1463040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sz="1600" dirty="0"/>
              <a:t>Spark Streaming</a:t>
            </a:r>
          </a:p>
          <a:p>
            <a:pPr algn="ctr">
              <a:defRPr sz="900">
                <a:solidFill>
                  <a:srgbClr val="94A3B8"/>
                </a:solidFill>
                <a:latin typeface="Calibri"/>
              </a:defRPr>
            </a:pPr>
            <a:r>
              <a:rPr sz="1050" dirty="0"/>
              <a:t>JSON parse + enrichment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0" y="1988820"/>
            <a:ext cx="109728" cy="45720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13248" y="1005840"/>
            <a:ext cx="1463040" cy="2011680"/>
          </a:xfrm>
          <a:prstGeom prst="rect">
            <a:avLst/>
          </a:prstGeom>
          <a:solidFill>
            <a:srgbClr val="1B2D45"/>
          </a:solidFill>
          <a:ln>
            <a:solidFill>
              <a:srgbClr val="1B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13248" y="1005840"/>
            <a:ext cx="1463040" cy="64008"/>
          </a:xfrm>
          <a:prstGeom prst="rect">
            <a:avLst/>
          </a:prstGeom>
          <a:solidFill>
            <a:srgbClr val="06D6A0"/>
          </a:solidFill>
          <a:ln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13248" y="1737360"/>
            <a:ext cx="146304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sz="1600" dirty="0" err="1"/>
              <a:t>MLlib</a:t>
            </a:r>
            <a:r>
              <a:rPr sz="1600" dirty="0"/>
              <a:t> Model</a:t>
            </a:r>
          </a:p>
          <a:p>
            <a:pPr algn="ctr">
              <a:defRPr sz="900">
                <a:solidFill>
                  <a:srgbClr val="94A3B8"/>
                </a:solidFill>
                <a:latin typeface="Calibri"/>
              </a:defRPr>
            </a:pPr>
            <a:r>
              <a:rPr sz="1050" dirty="0"/>
              <a:t>Random Forest Classifier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76288" y="1988820"/>
            <a:ext cx="109728" cy="45720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986016" y="1005840"/>
            <a:ext cx="1463040" cy="2011680"/>
          </a:xfrm>
          <a:prstGeom prst="rect">
            <a:avLst/>
          </a:prstGeom>
          <a:solidFill>
            <a:srgbClr val="1B2D45"/>
          </a:solidFill>
          <a:ln>
            <a:solidFill>
              <a:srgbClr val="1B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986016" y="1005840"/>
            <a:ext cx="1463040" cy="64008"/>
          </a:xfrm>
          <a:prstGeom prst="rect">
            <a:avLst/>
          </a:prstGeom>
          <a:solidFill>
            <a:srgbClr val="FFC300"/>
          </a:solidFill>
          <a:ln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86016" y="1737360"/>
            <a:ext cx="1463040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sz="1600" dirty="0"/>
              <a:t>Prediction Output</a:t>
            </a:r>
          </a:p>
          <a:p>
            <a:pPr algn="ctr">
              <a:defRPr sz="900">
                <a:solidFill>
                  <a:srgbClr val="94A3B8"/>
                </a:solidFill>
                <a:latin typeface="Calibri"/>
              </a:defRPr>
            </a:pPr>
            <a:r>
              <a:rPr sz="1050" dirty="0"/>
              <a:t>label: 0=Normal / 1=Failure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0" y="3154680"/>
            <a:ext cx="2743200" cy="80467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371600" y="3154680"/>
            <a:ext cx="274320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B4D8"/>
                </a:solidFill>
              </a:defRPr>
            </a:pPr>
            <a:r>
              <a:rPr sz="1400" dirty="0"/>
              <a:t>Batch Path</a:t>
            </a:r>
          </a:p>
          <a:p>
            <a:pPr algn="ctr">
              <a:defRPr sz="900">
                <a:solidFill>
                  <a:srgbClr val="E8F4FD"/>
                </a:solidFill>
              </a:defRPr>
            </a:pPr>
            <a:r>
              <a:rPr sz="1050" dirty="0"/>
              <a:t>CSV → Spark DF → Feature Engineering → RF Training → Saved Model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3154680"/>
            <a:ext cx="2743200" cy="80467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0" y="3154680"/>
            <a:ext cx="274320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300"/>
                </a:solidFill>
              </a:defRPr>
            </a:pPr>
            <a:r>
              <a:rPr sz="1400" dirty="0"/>
              <a:t>Streaming Path</a:t>
            </a:r>
          </a:p>
          <a:p>
            <a:pPr algn="ctr">
              <a:defRPr sz="900">
                <a:solidFill>
                  <a:srgbClr val="E8F4FD"/>
                </a:solidFill>
              </a:defRPr>
            </a:pPr>
            <a:r>
              <a:rPr sz="1050" dirty="0"/>
              <a:t>Kafka Producer → </a:t>
            </a:r>
            <a:r>
              <a:rPr sz="1050" dirty="0" err="1"/>
              <a:t>iot</a:t>
            </a:r>
            <a:r>
              <a:rPr sz="1050" dirty="0"/>
              <a:t>-sensors → Spark → Alert + ML Prediction → 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Calibri"/>
              </a:defRPr>
            </a:pPr>
            <a: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Dataset &amp;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94A3B8"/>
                </a:solidFill>
              </a:defRPr>
            </a:pPr>
            <a:r>
              <a:t>AI4I 2020 Predictive Maintenance Dataset  ·  10,000 machine readings  ·  Kaggle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920240" cy="9601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920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10,000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Total Readings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960120"/>
            <a:ext cx="1920240" cy="960120"/>
          </a:xfrm>
          <a:prstGeom prst="rect">
            <a:avLst/>
          </a:prstGeom>
          <a:solidFill>
            <a:srgbClr val="06D6A0"/>
          </a:solidFill>
          <a:ln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60320" y="960120"/>
            <a:ext cx="1920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D1B2A"/>
                </a:solidFill>
              </a:defRPr>
            </a:pPr>
            <a:r>
              <a:t>9,661</a:t>
            </a:r>
          </a:p>
          <a:p>
            <a:pPr algn="ctr">
              <a:defRPr sz="1000">
                <a:solidFill>
                  <a:srgbClr val="0D1B2A"/>
                </a:solidFill>
              </a:defRPr>
            </a:pPr>
            <a:r>
              <a:t>Normal (label=0)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960120"/>
            <a:ext cx="1920240" cy="960120"/>
          </a:xfrm>
          <a:prstGeom prst="rect">
            <a:avLst/>
          </a:prstGeom>
          <a:solidFill>
            <a:srgbClr val="EF233C"/>
          </a:solidFill>
          <a:ln>
            <a:solidFill>
              <a:srgbClr val="EF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960120"/>
            <a:ext cx="1920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D1B2A"/>
                </a:solidFill>
              </a:defRPr>
            </a:pPr>
            <a:r>
              <a:t>339</a:t>
            </a:r>
          </a:p>
          <a:p>
            <a:pPr algn="ctr">
              <a:defRPr sz="1000">
                <a:solidFill>
                  <a:srgbClr val="0D1B2A"/>
                </a:solidFill>
              </a:defRPr>
            </a:pPr>
            <a:r>
              <a:t>Failure (label=1)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59" y="960120"/>
            <a:ext cx="1920240" cy="960120"/>
          </a:xfrm>
          <a:prstGeom prst="rect">
            <a:avLst/>
          </a:prstGeom>
          <a:solidFill>
            <a:srgbClr val="FFC300"/>
          </a:solidFill>
          <a:ln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66559" y="960120"/>
            <a:ext cx="1920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D1B2A"/>
                </a:solidFill>
              </a:defRPr>
            </a:pPr>
            <a:r>
              <a:t>3.4%</a:t>
            </a:r>
          </a:p>
          <a:p>
            <a:pPr algn="ctr">
              <a:defRPr sz="1000">
                <a:solidFill>
                  <a:srgbClr val="0D1B2A"/>
                </a:solidFill>
              </a:defRPr>
            </a:pPr>
            <a:r>
              <a:t>Failure Rate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20574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1885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Alert Threshold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Air Temperature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Kelvin [K]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Input feature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Process Temperature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Kelvin [K]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Input feature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ΔTemp &gt; 12 K → Thermal alert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Rotational Speed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RPM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Input feature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RPM &gt; 2800 → Overspeed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Torque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Input feature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Torque &gt; 65 Nm → Overload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Tool Wear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Minutes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Input feature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Wear &gt; 200 min → Wear-Out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9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F233C"/>
                          </a:solidFill>
                        </a:defRPr>
                      </a:pPr>
                      <a:r>
                        <a:t>Machine Failure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Binary 0/1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Target label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 = FAILURE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Calibri"/>
              </a:defRPr>
            </a:pPr>
            <a: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Kafka Streaming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914400"/>
            <a:ext cx="2697480" cy="3749039"/>
          </a:xfrm>
          <a:prstGeom prst="rect">
            <a:avLst/>
          </a:prstGeom>
          <a:solidFill>
            <a:srgbClr val="1B2D45"/>
          </a:solidFill>
          <a:ln>
            <a:solidFill>
              <a:srgbClr val="1B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2697480" cy="64008"/>
          </a:xfrm>
          <a:prstGeom prst="rect">
            <a:avLst/>
          </a:prstGeom>
          <a:solidFill>
            <a:srgbClr val="FFC300"/>
          </a:solidFill>
          <a:ln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47758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sz="1600" dirty="0"/>
              <a:t>Kafka Producer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85542"/>
            <a:ext cx="242316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000">
                <a:solidFill>
                  <a:srgbClr val="CBD5E1"/>
                </a:solidFill>
              </a:defRPr>
            </a:pPr>
            <a:r>
              <a:rPr sz="1200" dirty="0"/>
              <a:t>› </a:t>
            </a:r>
            <a:r>
              <a:rPr sz="1400" dirty="0"/>
              <a:t>Reads ai4i2020.csv row by row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rPr sz="1400" dirty="0"/>
              <a:t>› Publishes JSON messages at 0.5s interval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rPr sz="1400" dirty="0"/>
              <a:t>› Topic: </a:t>
            </a:r>
            <a:r>
              <a:rPr sz="1400" dirty="0" err="1"/>
              <a:t>iot</a:t>
            </a:r>
            <a:r>
              <a:rPr sz="1400" dirty="0"/>
              <a:t>-sensors  |  Broker: 9092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rPr sz="1400" dirty="0"/>
              <a:t>› Fields: </a:t>
            </a:r>
            <a:r>
              <a:rPr sz="1400" dirty="0" err="1"/>
              <a:t>air_temp</a:t>
            </a:r>
            <a:r>
              <a:rPr sz="1400" dirty="0"/>
              <a:t>, </a:t>
            </a:r>
            <a:r>
              <a:rPr sz="1400" dirty="0" err="1"/>
              <a:t>process_temp</a:t>
            </a:r>
            <a:r>
              <a:rPr sz="1400" dirty="0"/>
              <a:t>, rpm,</a:t>
            </a:r>
            <a:br>
              <a:rPr sz="1400" dirty="0"/>
            </a:br>
            <a:r>
              <a:rPr sz="1400" dirty="0"/>
              <a:t>torque, </a:t>
            </a:r>
            <a:r>
              <a:rPr sz="1400" dirty="0" err="1"/>
              <a:t>tool_wear</a:t>
            </a:r>
            <a:r>
              <a:rPr sz="1400" dirty="0"/>
              <a:t>, label, </a:t>
            </a:r>
            <a:r>
              <a:rPr sz="1400" dirty="0" err="1"/>
              <a:t>temp_delta</a:t>
            </a:r>
            <a:endParaRPr sz="1400" dirty="0"/>
          </a:p>
          <a:p>
            <a:pPr>
              <a:defRPr sz="1000">
                <a:solidFill>
                  <a:srgbClr val="CBD5E1"/>
                </a:solidFill>
              </a:defRPr>
            </a:pPr>
            <a:r>
              <a:rPr sz="1400" dirty="0"/>
              <a:t>› acks='all' for durability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rPr sz="1400" dirty="0"/>
              <a:t>› In-memory queue simulation also provided</a:t>
            </a:r>
            <a:endParaRPr sz="1200" dirty="0"/>
          </a:p>
        </p:txBody>
      </p:sp>
      <p:sp>
        <p:nvSpPr>
          <p:cNvPr id="7" name="Rectangle 6"/>
          <p:cNvSpPr/>
          <p:nvPr/>
        </p:nvSpPr>
        <p:spPr>
          <a:xfrm>
            <a:off x="3017520" y="2766060"/>
            <a:ext cx="228600" cy="45720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46120" y="914400"/>
            <a:ext cx="2697480" cy="3749039"/>
          </a:xfrm>
          <a:prstGeom prst="rect">
            <a:avLst/>
          </a:prstGeom>
          <a:solidFill>
            <a:srgbClr val="1B2D45"/>
          </a:solidFill>
          <a:ln>
            <a:solidFill>
              <a:srgbClr val="1B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46120" y="914400"/>
            <a:ext cx="2697480" cy="64008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29000" y="1051560"/>
            <a:ext cx="114332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sz="1600" dirty="0"/>
              <a:t>Kafka Topic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554480"/>
            <a:ext cx="242316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000">
                <a:solidFill>
                  <a:srgbClr val="CBD5E1"/>
                </a:solidFill>
              </a:defRPr>
            </a:pPr>
            <a:r>
              <a:rPr sz="1400" dirty="0"/>
              <a:t>› Topic name: </a:t>
            </a:r>
            <a:r>
              <a:rPr sz="1400" dirty="0" err="1"/>
              <a:t>iot</a:t>
            </a:r>
            <a:r>
              <a:rPr sz="1400" dirty="0"/>
              <a:t>-sensors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rPr sz="1400" dirty="0"/>
              <a:t>› Partition-based parallel consumption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rPr sz="1400" dirty="0"/>
              <a:t>› Messages retained for replay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rPr sz="1400" dirty="0"/>
              <a:t>› Schema: JSON with 8 fields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rPr sz="1400" dirty="0"/>
              <a:t>› </a:t>
            </a:r>
            <a:r>
              <a:rPr sz="1400" dirty="0" err="1"/>
              <a:t>auto_offset_reset</a:t>
            </a:r>
            <a:r>
              <a:rPr sz="1400" dirty="0"/>
              <a:t> = earliest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rPr sz="1400" dirty="0"/>
              <a:t>› Simulated via Python </a:t>
            </a:r>
            <a:r>
              <a:rPr sz="1400" dirty="0" err="1"/>
              <a:t>queue.Queue</a:t>
            </a:r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5943600" y="2766060"/>
            <a:ext cx="228600" cy="45720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914400"/>
            <a:ext cx="2697480" cy="3749039"/>
          </a:xfrm>
          <a:prstGeom prst="rect">
            <a:avLst/>
          </a:prstGeom>
          <a:solidFill>
            <a:srgbClr val="1B2D45"/>
          </a:solidFill>
          <a:ln>
            <a:solidFill>
              <a:srgbClr val="1B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914400"/>
            <a:ext cx="2697480" cy="64008"/>
          </a:xfrm>
          <a:prstGeom prst="rect">
            <a:avLst/>
          </a:prstGeom>
          <a:solidFill>
            <a:srgbClr val="06D6A0"/>
          </a:solidFill>
          <a:ln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046988"/>
            <a:ext cx="157767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sz="1600" dirty="0"/>
              <a:t>Spark Consumer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554480"/>
            <a:ext cx="242316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000">
                <a:solidFill>
                  <a:srgbClr val="CBD5E1"/>
                </a:solidFill>
              </a:defRPr>
            </a:pPr>
            <a:r>
              <a:rPr dirty="0"/>
              <a:t>› </a:t>
            </a:r>
            <a:r>
              <a:rPr sz="1400" dirty="0"/>
              <a:t>Reads Kafka micro-batches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rPr sz="1400" dirty="0"/>
              <a:t>› Parses JSON → Spark </a:t>
            </a:r>
            <a:r>
              <a:rPr sz="1400" dirty="0" err="1"/>
              <a:t>DataFrame</a:t>
            </a:r>
            <a:endParaRPr sz="1400" dirty="0"/>
          </a:p>
          <a:p>
            <a:pPr>
              <a:defRPr sz="1000">
                <a:solidFill>
                  <a:srgbClr val="CBD5E1"/>
                </a:solidFill>
              </a:defRPr>
            </a:pPr>
            <a:r>
              <a:rPr sz="1400" dirty="0"/>
              <a:t>› Adds 5 rule-based alert flags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rPr sz="1400" dirty="0"/>
              <a:t>› Computes </a:t>
            </a:r>
            <a:r>
              <a:rPr sz="1400" dirty="0" err="1"/>
              <a:t>risk_score</a:t>
            </a:r>
            <a:r>
              <a:rPr sz="1400" dirty="0"/>
              <a:t> (0–5)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rPr sz="1400" dirty="0"/>
              <a:t>› Classifies: SAFE / WARNING / CRITICAL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rPr sz="1400" dirty="0"/>
              <a:t>› Loads saved ML model → prediction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Calibri"/>
              </a:defRPr>
            </a:pPr>
            <a: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71591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ML Pipeline — Spark MLlib</a:t>
            </a:r>
          </a:p>
        </p:txBody>
      </p:sp>
      <p:sp>
        <p:nvSpPr>
          <p:cNvPr id="3" name="Rectangle 2"/>
          <p:cNvSpPr/>
          <p:nvPr/>
        </p:nvSpPr>
        <p:spPr>
          <a:xfrm>
            <a:off x="388619" y="914400"/>
            <a:ext cx="1600200" cy="201168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88619" y="914400"/>
            <a:ext cx="1600200" cy="64008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8619" y="1005840"/>
            <a:ext cx="1600200" cy="1100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B4D8"/>
                </a:solidFill>
              </a:defRPr>
            </a:pPr>
            <a:r>
              <a:rPr dirty="0"/>
              <a:t>01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400" dirty="0"/>
              <a:t>Load &amp; Clean</a:t>
            </a:r>
          </a:p>
          <a:p>
            <a:pPr algn="ctr">
              <a:defRPr sz="950">
                <a:solidFill>
                  <a:srgbClr val="CBD5E1"/>
                </a:solidFill>
              </a:defRPr>
            </a:pPr>
            <a:r>
              <a:rPr sz="1050" dirty="0"/>
              <a:t>Read ai4i2020.csv</a:t>
            </a:r>
            <a:br>
              <a:rPr sz="1050" dirty="0"/>
            </a:br>
            <a:r>
              <a:rPr sz="1050" dirty="0"/>
              <a:t>Rename columns</a:t>
            </a:r>
            <a:br>
              <a:rPr sz="1050" dirty="0"/>
            </a:br>
            <a:r>
              <a:rPr sz="1050" dirty="0"/>
              <a:t>Drop nulls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8819" y="1897380"/>
            <a:ext cx="91440" cy="45720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080260" y="914400"/>
            <a:ext cx="1600200" cy="201168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080260" y="914400"/>
            <a:ext cx="1600200" cy="64008"/>
          </a:xfrm>
          <a:prstGeom prst="rect">
            <a:avLst/>
          </a:prstGeom>
          <a:solidFill>
            <a:srgbClr val="FFC300"/>
          </a:solidFill>
          <a:ln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80260" y="1005840"/>
            <a:ext cx="160020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C300"/>
                </a:solidFill>
              </a:defRPr>
            </a:pPr>
            <a:r>
              <a:rPr dirty="0"/>
              <a:t>02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400" dirty="0" err="1"/>
              <a:t>VectorAssembler</a:t>
            </a:r>
            <a:endParaRPr sz="1400" dirty="0"/>
          </a:p>
          <a:p>
            <a:pPr algn="ctr">
              <a:defRPr sz="950">
                <a:solidFill>
                  <a:srgbClr val="CBD5E1"/>
                </a:solidFill>
              </a:defRPr>
            </a:pPr>
            <a:r>
              <a:rPr sz="1050" dirty="0"/>
              <a:t>Assemble 5 features</a:t>
            </a:r>
            <a:br>
              <a:rPr sz="1050" dirty="0"/>
            </a:br>
            <a:r>
              <a:rPr sz="1050" dirty="0"/>
              <a:t>into 1 feature vector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80460" y="1897380"/>
            <a:ext cx="91440" cy="45720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771900" y="914400"/>
            <a:ext cx="1600200" cy="201168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771900" y="914400"/>
            <a:ext cx="1600200" cy="64008"/>
          </a:xfrm>
          <a:prstGeom prst="rect">
            <a:avLst/>
          </a:prstGeom>
          <a:solidFill>
            <a:srgbClr val="0096C7"/>
          </a:solidFill>
          <a:ln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71900" y="1005840"/>
            <a:ext cx="160020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C7"/>
                </a:solidFill>
              </a:defRPr>
            </a:pPr>
            <a:r>
              <a:rPr dirty="0"/>
              <a:t>03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400" dirty="0"/>
              <a:t>Train/Test Split</a:t>
            </a:r>
          </a:p>
          <a:p>
            <a:pPr algn="ctr">
              <a:defRPr sz="950">
                <a:solidFill>
                  <a:srgbClr val="CBD5E1"/>
                </a:solidFill>
              </a:defRPr>
            </a:pPr>
            <a:r>
              <a:rPr sz="1050" dirty="0"/>
              <a:t>80% train / 20% test</a:t>
            </a:r>
            <a:br>
              <a:rPr sz="1050" dirty="0"/>
            </a:br>
            <a:r>
              <a:rPr sz="1050" dirty="0"/>
              <a:t>Seed = 42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72100" y="1897380"/>
            <a:ext cx="91440" cy="45720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63540" y="914400"/>
            <a:ext cx="1600200" cy="201168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63540" y="914400"/>
            <a:ext cx="1600200" cy="64008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63540" y="1005840"/>
            <a:ext cx="1600200" cy="1100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D1B2A"/>
                </a:solidFill>
              </a:defRPr>
            </a:pPr>
            <a:r>
              <a:rPr dirty="0">
                <a:solidFill>
                  <a:srgbClr val="FFFF00"/>
                </a:solidFill>
              </a:rPr>
              <a:t>04</a:t>
            </a:r>
            <a:endParaRPr lang="en-PK" dirty="0">
              <a:solidFill>
                <a:srgbClr val="FFFF00"/>
              </a:solidFill>
            </a:endParaRP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400" dirty="0"/>
              <a:t>Random Forest</a:t>
            </a:r>
          </a:p>
          <a:p>
            <a:pPr algn="ctr">
              <a:defRPr sz="950">
                <a:solidFill>
                  <a:srgbClr val="CBD5E1"/>
                </a:solidFill>
              </a:defRPr>
            </a:pPr>
            <a:r>
              <a:rPr sz="1050" dirty="0"/>
              <a:t>30 trees</a:t>
            </a:r>
            <a:br>
              <a:rPr sz="1050" dirty="0"/>
            </a:br>
            <a:r>
              <a:rPr sz="1050" dirty="0"/>
              <a:t>Binary classifier</a:t>
            </a:r>
            <a:br>
              <a:rPr sz="1050" dirty="0"/>
            </a:br>
            <a:r>
              <a:rPr sz="1050" dirty="0"/>
              <a:t>label = Machine failure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63740" y="1897380"/>
            <a:ext cx="91440" cy="45720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155180" y="914400"/>
            <a:ext cx="1600200" cy="201168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155180" y="914400"/>
            <a:ext cx="1600200" cy="64008"/>
          </a:xfrm>
          <a:prstGeom prst="rect">
            <a:avLst/>
          </a:prstGeom>
          <a:solidFill>
            <a:srgbClr val="06D6A0"/>
          </a:solidFill>
          <a:ln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55180" y="1005840"/>
            <a:ext cx="1600200" cy="1100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6D6A0"/>
                </a:solidFill>
              </a:defRPr>
            </a:pPr>
            <a:r>
              <a:rPr dirty="0"/>
              <a:t>05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400" dirty="0"/>
              <a:t>Save Model</a:t>
            </a:r>
          </a:p>
          <a:p>
            <a:pPr algn="ctr">
              <a:defRPr sz="950">
                <a:solidFill>
                  <a:srgbClr val="CBD5E1"/>
                </a:solidFill>
              </a:defRPr>
            </a:pPr>
            <a:r>
              <a:rPr sz="1050" dirty="0" err="1"/>
              <a:t>PipelineModel.save</a:t>
            </a:r>
            <a:r>
              <a:rPr sz="1050" dirty="0"/>
              <a:t>()</a:t>
            </a:r>
            <a:br>
              <a:rPr sz="1050" dirty="0"/>
            </a:br>
            <a:r>
              <a:rPr sz="1050" dirty="0"/>
              <a:t>Reused in streaming</a:t>
            </a:r>
            <a:br>
              <a:rPr sz="1050" dirty="0"/>
            </a:br>
            <a:r>
              <a:rPr sz="1050" dirty="0"/>
              <a:t>notebook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090672"/>
            <a:ext cx="3931920" cy="178308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3182112"/>
            <a:ext cx="393192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B4D8"/>
                </a:solidFill>
              </a:defRPr>
            </a:pPr>
            <a:r>
              <a:rPr sz="1400" dirty="0"/>
              <a:t>Features Used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rPr dirty="0"/>
              <a:t>• </a:t>
            </a:r>
            <a:r>
              <a:rPr sz="1200" dirty="0" err="1"/>
              <a:t>air_temp</a:t>
            </a:r>
            <a:endParaRPr sz="1200" dirty="0"/>
          </a:p>
          <a:p>
            <a:pPr>
              <a:defRPr sz="1050">
                <a:solidFill>
                  <a:srgbClr val="CBD5E1"/>
                </a:solidFill>
              </a:defRPr>
            </a:pPr>
            <a:r>
              <a:rPr sz="1200" dirty="0"/>
              <a:t>• </a:t>
            </a:r>
            <a:r>
              <a:rPr sz="1200" dirty="0" err="1"/>
              <a:t>process_temp</a:t>
            </a:r>
            <a:endParaRPr sz="1200" dirty="0"/>
          </a:p>
          <a:p>
            <a:pPr>
              <a:defRPr sz="1050">
                <a:solidFill>
                  <a:srgbClr val="CBD5E1"/>
                </a:solidFill>
              </a:defRPr>
            </a:pPr>
            <a:r>
              <a:rPr sz="1200" dirty="0"/>
              <a:t>• rpm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rPr sz="1200" dirty="0"/>
              <a:t>• torque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rPr sz="1200" dirty="0"/>
              <a:t>• </a:t>
            </a:r>
            <a:r>
              <a:rPr sz="1200" dirty="0" err="1"/>
              <a:t>tool_wear</a:t>
            </a:r>
            <a:endParaRPr sz="1200" dirty="0"/>
          </a:p>
        </p:txBody>
      </p:sp>
      <p:sp>
        <p:nvSpPr>
          <p:cNvPr id="24" name="Rectangle 23"/>
          <p:cNvSpPr/>
          <p:nvPr/>
        </p:nvSpPr>
        <p:spPr>
          <a:xfrm>
            <a:off x="4754880" y="3090672"/>
            <a:ext cx="3931920" cy="178308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54880" y="3182112"/>
            <a:ext cx="393192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300"/>
                </a:solidFill>
              </a:defRPr>
            </a:pPr>
            <a:r>
              <a:rPr sz="1400" dirty="0"/>
              <a:t>Rule-Based Alert Thresholds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rPr dirty="0"/>
              <a:t>• </a:t>
            </a:r>
            <a:r>
              <a:rPr sz="1200" dirty="0"/>
              <a:t>RPM &gt; 2800  →  Overspeed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rPr sz="1200" dirty="0"/>
              <a:t>• Torque &gt; 65 Nm  →  Overload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rPr sz="1200" dirty="0"/>
              <a:t>• Tool Wear &gt; 200 min  →  Wear-Out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rPr sz="1200" dirty="0"/>
              <a:t>• </a:t>
            </a:r>
            <a:r>
              <a:rPr sz="1200" dirty="0" err="1"/>
              <a:t>ΔTemp</a:t>
            </a:r>
            <a:r>
              <a:rPr sz="1200" dirty="0"/>
              <a:t> &gt; 12 K  →  Thermal Alert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rPr sz="1200" dirty="0"/>
              <a:t>• label = 1  →  Sensor Failure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Calibri"/>
              </a:defRPr>
            </a:pPr>
            <a:r>
              <a:t>7 / 12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4A5CB7F-C2CF-21FB-AB6A-3C33FF515369}"/>
              </a:ext>
            </a:extLst>
          </p:cNvPr>
          <p:cNvSpPr/>
          <p:nvPr/>
        </p:nvSpPr>
        <p:spPr>
          <a:xfrm>
            <a:off x="5463540" y="914400"/>
            <a:ext cx="1600200" cy="73048"/>
          </a:xfrm>
          <a:prstGeom prst="rect">
            <a:avLst/>
          </a:prstGeom>
          <a:solidFill>
            <a:srgbClr val="FFFF00"/>
          </a:solidFill>
          <a:ln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Results — Model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00B4D8"/>
                </a:solidFill>
              </a:defRPr>
            </a:pPr>
            <a:r>
              <a:t>Random Forest Classifier evaluated on 20% held-out test 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920240" cy="1051560"/>
          </a:xfrm>
          <a:prstGeom prst="rect">
            <a:avLst/>
          </a:prstGeom>
          <a:solidFill>
            <a:srgbClr val="1B2D45"/>
          </a:solidFill>
          <a:ln>
            <a:solidFill>
              <a:srgbClr val="1B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920240" cy="64008"/>
          </a:xfrm>
          <a:prstGeom prst="rect">
            <a:avLst/>
          </a:prstGeom>
          <a:solidFill>
            <a:srgbClr val="06D6A0"/>
          </a:solidFill>
          <a:ln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6D6A0"/>
                </a:solidFill>
              </a:defRPr>
            </a:pPr>
            <a:r>
              <a:t>≥ 97%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Accuracy</a:t>
            </a:r>
          </a:p>
        </p:txBody>
      </p:sp>
      <p:sp>
        <p:nvSpPr>
          <p:cNvPr id="7" name="Rectangle 6"/>
          <p:cNvSpPr/>
          <p:nvPr/>
        </p:nvSpPr>
        <p:spPr>
          <a:xfrm>
            <a:off x="2532888" y="960120"/>
            <a:ext cx="1920240" cy="1051560"/>
          </a:xfrm>
          <a:prstGeom prst="rect">
            <a:avLst/>
          </a:prstGeom>
          <a:solidFill>
            <a:srgbClr val="1B2D45"/>
          </a:solidFill>
          <a:ln>
            <a:solidFill>
              <a:srgbClr val="1B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532888" y="960120"/>
            <a:ext cx="1920240" cy="64008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32888" y="10515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</a:defRPr>
            </a:pPr>
            <a:r>
              <a:t>&gt; 0.95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AUC-ROC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08576" y="960120"/>
            <a:ext cx="1920240" cy="1051560"/>
          </a:xfrm>
          <a:prstGeom prst="rect">
            <a:avLst/>
          </a:prstGeom>
          <a:solidFill>
            <a:srgbClr val="1B2D45"/>
          </a:solidFill>
          <a:ln>
            <a:solidFill>
              <a:srgbClr val="1B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08576" y="960120"/>
            <a:ext cx="1920240" cy="64008"/>
          </a:xfrm>
          <a:prstGeom prst="rect">
            <a:avLst/>
          </a:prstGeom>
          <a:solidFill>
            <a:srgbClr val="FFC300"/>
          </a:solidFill>
          <a:ln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08576" y="10515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C300"/>
                </a:solidFill>
              </a:defRPr>
            </a:pPr>
            <a:r>
              <a:t>High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Precision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84264" y="960120"/>
            <a:ext cx="1920240" cy="1051560"/>
          </a:xfrm>
          <a:prstGeom prst="rect">
            <a:avLst/>
          </a:prstGeom>
          <a:solidFill>
            <a:srgbClr val="1B2D45"/>
          </a:solidFill>
          <a:ln>
            <a:solidFill>
              <a:srgbClr val="1B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684264" y="960120"/>
            <a:ext cx="1920240" cy="64008"/>
          </a:xfrm>
          <a:prstGeom prst="rect">
            <a:avLst/>
          </a:prstGeom>
          <a:solidFill>
            <a:srgbClr val="FFC300"/>
          </a:solidFill>
          <a:ln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84264" y="10515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C300"/>
                </a:solidFill>
              </a:defRPr>
            </a:pPr>
            <a:r>
              <a:t>High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Recall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103120"/>
            <a:ext cx="5303520" cy="2697480"/>
          </a:xfrm>
          <a:prstGeom prst="rect">
            <a:avLst/>
          </a:prstGeom>
          <a:solidFill>
            <a:srgbClr val="1B2D45"/>
          </a:solidFill>
          <a:ln>
            <a:solidFill>
              <a:srgbClr val="1B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2276856"/>
            <a:ext cx="49377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sz="1600" dirty="0"/>
              <a:t>Model Evaluation Breakdown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rPr sz="1600" dirty="0"/>
              <a:t>Accuracy: 97.2%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rPr sz="1600" dirty="0"/>
              <a:t>AUC-ROC: 95.8%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rPr sz="1600" dirty="0"/>
              <a:t>F1-Score: 94.1%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rPr sz="1600" dirty="0"/>
              <a:t>Precision: 96.3%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rPr sz="1600" dirty="0"/>
              <a:t>Recall: 92.5%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2103120"/>
            <a:ext cx="2880360" cy="2697480"/>
          </a:xfrm>
          <a:prstGeom prst="rect">
            <a:avLst/>
          </a:prstGeom>
          <a:solidFill>
            <a:srgbClr val="1B2D45"/>
          </a:solidFill>
          <a:ln>
            <a:solidFill>
              <a:srgbClr val="1B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89320" y="2194560"/>
            <a:ext cx="288036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4D8"/>
                </a:solidFill>
              </a:defRPr>
            </a:pPr>
            <a:r>
              <a:rPr sz="1400" dirty="0"/>
              <a:t>Key Observations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rPr sz="1400" dirty="0"/>
              <a:t>✓ High torque → top failure predictor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rPr sz="1400" dirty="0"/>
              <a:t>✓ Tool wear &gt; 200 min raises risk sharply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rPr sz="1400" dirty="0"/>
              <a:t>✓ Temperature delta indicates thermal stress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rPr sz="1400" dirty="0"/>
              <a:t>✓ Model handles class imbalance well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rPr sz="1400" dirty="0"/>
              <a:t>✓ Sub-second latency per Kafka record</a:t>
            </a:r>
            <a:endParaRPr sz="1200" dirty="0"/>
          </a:p>
        </p:txBody>
      </p:sp>
      <p:sp>
        <p:nvSpPr>
          <p:cNvPr id="20" name="TextBox 19"/>
          <p:cNvSpPr txBox="1"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Calibri"/>
              </a:defRPr>
            </a:pPr>
            <a: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Example Predictions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87552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Air Temp (K)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Process Temp (K)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RPM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Torque (Nm)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Tool Wear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Prediction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D1B2A"/>
                          </a:solidFill>
                        </a:defRPr>
                      </a:pPr>
                      <a:r>
                        <a:t>298.1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D1B2A"/>
                          </a:solidFill>
                        </a:defRPr>
                      </a:pPr>
                      <a:r>
                        <a:t>308.6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D1B2A"/>
                          </a:solidFill>
                        </a:defRPr>
                      </a:pPr>
                      <a:r>
                        <a:t>1551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D1B2A"/>
                          </a:solidFill>
                        </a:defRPr>
                      </a:pPr>
                      <a:r>
                        <a:t>42.8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D1B2A"/>
                          </a:solidFill>
                        </a:defRPr>
                      </a:pPr>
                      <a:r>
                        <a:t>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A34A"/>
                          </a:solidFill>
                        </a:defRPr>
                      </a:pPr>
                      <a:r>
                        <a:t>No Failure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D1B2A"/>
                          </a:solidFill>
                        </a:defRPr>
                      </a:pPr>
                      <a:r>
                        <a:t>295.0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D1B2A"/>
                          </a:solidFill>
                        </a:defRPr>
                      </a:pPr>
                      <a:r>
                        <a:t>309.5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D1B2A"/>
                          </a:solidFill>
                        </a:defRPr>
                      </a:pPr>
                      <a:r>
                        <a:t>1200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D1B2A"/>
                          </a:solidFill>
                        </a:defRPr>
                      </a:pPr>
                      <a:r>
                        <a:t>30.0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D1B2A"/>
                          </a:solidFill>
                        </a:defRPr>
                      </a:pPr>
                      <a:r>
                        <a:t>50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A34A"/>
                          </a:solidFill>
                        </a:defRPr>
                      </a:pPr>
                      <a:r>
                        <a:t>No Failure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D1B2A"/>
                          </a:solidFill>
                        </a:defRPr>
                      </a:pPr>
                      <a:r>
                        <a:t>300.5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D1B2A"/>
                          </a:solidFill>
                        </a:defRPr>
                      </a:pPr>
                      <a:r>
                        <a:t>312.0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D1B2A"/>
                          </a:solidFill>
                        </a:defRPr>
                      </a:pPr>
                      <a:r>
                        <a:t>1500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D1B2A"/>
                          </a:solidFill>
                        </a:defRPr>
                      </a:pPr>
                      <a:r>
                        <a:t>45.0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D1B2A"/>
                          </a:solidFill>
                        </a:defRPr>
                      </a:pPr>
                      <a:r>
                        <a:t>120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A34A"/>
                          </a:solidFill>
                        </a:defRPr>
                      </a:pPr>
                      <a:r>
                        <a:t>No Failure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D1B2A"/>
                          </a:solidFill>
                        </a:defRPr>
                      </a:pPr>
                      <a:r>
                        <a:t>302.1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D1B2A"/>
                          </a:solidFill>
                        </a:defRPr>
                      </a:pPr>
                      <a:r>
                        <a:t>315.8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D1B2A"/>
                          </a:solidFill>
                        </a:defRPr>
                      </a:pPr>
                      <a:r>
                        <a:t>2900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D1B2A"/>
                          </a:solidFill>
                        </a:defRPr>
                      </a:pPr>
                      <a:r>
                        <a:t>70.2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D1B2A"/>
                          </a:solidFill>
                        </a:defRPr>
                      </a:pPr>
                      <a:r>
                        <a:t>210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F233C"/>
                          </a:solidFill>
                        </a:defRPr>
                      </a:pPr>
                      <a:r>
                        <a:t>FAILURE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D1B2A"/>
                          </a:solidFill>
                        </a:defRPr>
                      </a:pPr>
                      <a:r>
                        <a:t>298.8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D1B2A"/>
                          </a:solidFill>
                        </a:defRPr>
                      </a:pPr>
                      <a:r>
                        <a:t>313.4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D1B2A"/>
                          </a:solidFill>
                        </a:defRPr>
                      </a:pPr>
                      <a:r>
                        <a:t>1800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D1B2A"/>
                          </a:solidFill>
                        </a:defRPr>
                      </a:pPr>
                      <a:r>
                        <a:t>68.0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D1B2A"/>
                          </a:solidFill>
                        </a:defRPr>
                      </a:pPr>
                      <a:r>
                        <a:t>185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F233C"/>
                          </a:solidFill>
                        </a:defRPr>
                      </a:pPr>
                      <a:r>
                        <a:t>FAILURE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457200" y="3520440"/>
            <a:ext cx="2560320" cy="137160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3520440"/>
            <a:ext cx="2560320" cy="64008"/>
          </a:xfrm>
          <a:prstGeom prst="rect">
            <a:avLst/>
          </a:prstGeom>
          <a:solidFill>
            <a:srgbClr val="06D6A0"/>
          </a:solidFill>
          <a:ln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657600"/>
            <a:ext cx="2286000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D6A0"/>
                </a:solidFill>
              </a:defRPr>
            </a:pPr>
            <a:r>
              <a:rPr dirty="0"/>
              <a:t>SAFE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rPr sz="1200" dirty="0" err="1"/>
              <a:t>risk_score</a:t>
            </a:r>
            <a:r>
              <a:rPr sz="1200" dirty="0"/>
              <a:t> = 0</a:t>
            </a:r>
            <a:br>
              <a:rPr sz="1200" dirty="0"/>
            </a:br>
            <a:r>
              <a:rPr sz="1200" dirty="0"/>
              <a:t>All sensors within normal range</a:t>
            </a:r>
            <a:br>
              <a:rPr sz="1200" dirty="0"/>
            </a:br>
            <a:r>
              <a:rPr sz="1200" dirty="0"/>
              <a:t>No action required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3520440"/>
            <a:ext cx="2560320" cy="137160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46120" y="3520440"/>
            <a:ext cx="2560320" cy="64008"/>
          </a:xfrm>
          <a:prstGeom prst="rect">
            <a:avLst/>
          </a:prstGeom>
          <a:solidFill>
            <a:srgbClr val="FFC300"/>
          </a:solidFill>
          <a:ln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83279" y="3657600"/>
            <a:ext cx="2286000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C300"/>
                </a:solidFill>
              </a:defRPr>
            </a:pPr>
            <a:r>
              <a:rPr dirty="0"/>
              <a:t>WARNING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rPr sz="1200" dirty="0" err="1"/>
              <a:t>risk_score</a:t>
            </a:r>
            <a:r>
              <a:rPr sz="1200" dirty="0"/>
              <a:t> = 1</a:t>
            </a:r>
            <a:br>
              <a:rPr sz="1200" dirty="0"/>
            </a:br>
            <a:r>
              <a:rPr sz="1200" dirty="0"/>
              <a:t>One threshold breached</a:t>
            </a:r>
            <a:br>
              <a:rPr sz="1200" dirty="0"/>
            </a:br>
            <a:r>
              <a:rPr sz="1200" dirty="0"/>
              <a:t>Schedule preventive check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3520440"/>
            <a:ext cx="2560320" cy="137160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35040" y="3520440"/>
            <a:ext cx="2560320" cy="64008"/>
          </a:xfrm>
          <a:prstGeom prst="rect">
            <a:avLst/>
          </a:prstGeom>
          <a:solidFill>
            <a:srgbClr val="EF233C"/>
          </a:solidFill>
          <a:ln>
            <a:solidFill>
              <a:srgbClr val="EF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72200" y="3657600"/>
            <a:ext cx="228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F233C"/>
                </a:solidFill>
              </a:defRPr>
            </a:pPr>
            <a:r>
              <a:rPr dirty="0"/>
              <a:t>CRITICAL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rPr sz="1100" dirty="0" err="1"/>
              <a:t>risk_score</a:t>
            </a:r>
            <a:r>
              <a:rPr sz="1100" dirty="0"/>
              <a:t> ≥ 2</a:t>
            </a:r>
            <a:br>
              <a:rPr dirty="0"/>
            </a:br>
            <a:r>
              <a:rPr sz="1100" dirty="0"/>
              <a:t>Multiple flags triggered</a:t>
            </a:r>
            <a:br>
              <a:rPr sz="1100" dirty="0"/>
            </a:br>
            <a:r>
              <a:rPr sz="1100" dirty="0"/>
              <a:t>Immediate maintenance required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Calibri"/>
              </a:defRPr>
            </a:pPr>
            <a: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Visualizations &amp;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393192" y="868680"/>
            <a:ext cx="2651760" cy="1481328"/>
          </a:xfrm>
          <a:prstGeom prst="rect">
            <a:avLst/>
          </a:prstGeom>
          <a:solidFill>
            <a:srgbClr val="1B2D45"/>
          </a:solidFill>
          <a:ln>
            <a:solidFill>
              <a:srgbClr val="1B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93192" y="868680"/>
            <a:ext cx="2651760" cy="54864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960120"/>
            <a:ext cx="237744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sz="1600" dirty="0"/>
              <a:t>Failure Distribution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rPr sz="1100" dirty="0"/>
              <a:t>Bar chart showing class imbalance: 9,661 normal vs 339 failure readings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46120" y="868680"/>
            <a:ext cx="2651760" cy="1481328"/>
          </a:xfrm>
          <a:prstGeom prst="rect">
            <a:avLst/>
          </a:prstGeom>
          <a:solidFill>
            <a:srgbClr val="1B2D45"/>
          </a:solidFill>
          <a:ln>
            <a:solidFill>
              <a:srgbClr val="1B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46120" y="868680"/>
            <a:ext cx="2651760" cy="54864"/>
          </a:xfrm>
          <a:prstGeom prst="rect">
            <a:avLst/>
          </a:prstGeom>
          <a:solidFill>
            <a:srgbClr val="FFC300"/>
          </a:solidFill>
          <a:ln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83280" y="960120"/>
            <a:ext cx="237744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sz="1600" dirty="0"/>
              <a:t>Torque vs Failure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rPr sz="1100" dirty="0"/>
              <a:t>Scatter plot — failure readings cluster at high torque values (&gt;65 Nm)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9048" y="868680"/>
            <a:ext cx="2651760" cy="1481328"/>
          </a:xfrm>
          <a:prstGeom prst="rect">
            <a:avLst/>
          </a:prstGeom>
          <a:solidFill>
            <a:srgbClr val="1B2D45"/>
          </a:solidFill>
          <a:ln>
            <a:solidFill>
              <a:srgbClr val="1B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9048" y="868680"/>
            <a:ext cx="2651760" cy="54864"/>
          </a:xfrm>
          <a:prstGeom prst="rect">
            <a:avLst/>
          </a:prstGeom>
          <a:solidFill>
            <a:srgbClr val="EF233C"/>
          </a:solidFill>
          <a:ln>
            <a:solidFill>
              <a:srgbClr val="EF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36208" y="960120"/>
            <a:ext cx="2377440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sz="1600" dirty="0"/>
              <a:t>Torque Trend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rPr sz="1100" dirty="0"/>
              <a:t>Time-series view of torque over records with failure events highlighted 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" y="2514600"/>
            <a:ext cx="2651760" cy="1481328"/>
          </a:xfrm>
          <a:prstGeom prst="rect">
            <a:avLst/>
          </a:prstGeom>
          <a:solidFill>
            <a:srgbClr val="1B2D45"/>
          </a:solidFill>
          <a:ln>
            <a:solidFill>
              <a:srgbClr val="1B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93192" y="2514600"/>
            <a:ext cx="2651760" cy="54864"/>
          </a:xfrm>
          <a:prstGeom prst="rect">
            <a:avLst/>
          </a:prstGeom>
          <a:solidFill>
            <a:srgbClr val="06D6A0"/>
          </a:solidFill>
          <a:ln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2393" y="2642616"/>
            <a:ext cx="237744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sz="1600" dirty="0"/>
              <a:t>Kafka Stream Dashboard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rPr sz="1100" dirty="0"/>
              <a:t>2×2 subplot: RPM, Torque, Tool Wear, </a:t>
            </a:r>
            <a:r>
              <a:rPr sz="1100" dirty="0" err="1"/>
              <a:t>ΔTemp</a:t>
            </a:r>
            <a:r>
              <a:rPr sz="1100" dirty="0"/>
              <a:t> with alert threshold lines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2514600"/>
            <a:ext cx="2651760" cy="1481328"/>
          </a:xfrm>
          <a:prstGeom prst="rect">
            <a:avLst/>
          </a:prstGeom>
          <a:solidFill>
            <a:srgbClr val="1B2D45"/>
          </a:solidFill>
          <a:ln>
            <a:solidFill>
              <a:srgbClr val="1B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46120" y="2514600"/>
            <a:ext cx="2651760" cy="54864"/>
          </a:xfrm>
          <a:prstGeom prst="rect">
            <a:avLst/>
          </a:prstGeom>
          <a:solidFill>
            <a:srgbClr val="FFC300"/>
          </a:solidFill>
          <a:ln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83280" y="2606040"/>
            <a:ext cx="237744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sz="1600" dirty="0"/>
              <a:t>Window Analytics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rPr sz="1100" dirty="0"/>
              <a:t>Tumbling 1-minute windows showing failure counts and sensor averages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9048" y="2514600"/>
            <a:ext cx="2651760" cy="1481328"/>
          </a:xfrm>
          <a:prstGeom prst="rect">
            <a:avLst/>
          </a:prstGeom>
          <a:solidFill>
            <a:srgbClr val="1B2D45"/>
          </a:solidFill>
          <a:ln>
            <a:solidFill>
              <a:srgbClr val="1B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99048" y="2514600"/>
            <a:ext cx="2651760" cy="54864"/>
          </a:xfrm>
          <a:prstGeom prst="rect">
            <a:avLst/>
          </a:prstGeom>
          <a:solidFill>
            <a:srgbClr val="0096C7"/>
          </a:solidFill>
          <a:ln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36208" y="2606040"/>
            <a:ext cx="23774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sz="1200" dirty="0"/>
              <a:t>Alert Level Summary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rPr sz="1200" dirty="0"/>
              <a:t>Stream summary: SAFE vs WARNING vs CRITICAL event counts and averages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Calibri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Limitations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41248"/>
            <a:ext cx="3840480" cy="402336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3840480" cy="64008"/>
          </a:xfrm>
          <a:prstGeom prst="rect">
            <a:avLst/>
          </a:prstGeom>
          <a:solidFill>
            <a:srgbClr val="EF233C"/>
          </a:solidFill>
          <a:ln>
            <a:solidFill>
              <a:srgbClr val="EF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3657600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F233C"/>
                </a:solidFill>
              </a:defRPr>
            </a:pPr>
            <a:r>
              <a:rPr sz="1600" dirty="0"/>
              <a:t>Current Limitations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rPr sz="1600" dirty="0"/>
              <a:t>✗ Simulated IoT data — no real hardware sensors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rPr sz="1600" dirty="0"/>
              <a:t>✗ Single-node </a:t>
            </a:r>
            <a:r>
              <a:rPr sz="1600" dirty="0" err="1"/>
              <a:t>Colab</a:t>
            </a:r>
            <a:r>
              <a:rPr sz="1600" dirty="0"/>
              <a:t> environment limits true distributed deployment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rPr sz="1600" dirty="0"/>
              <a:t>✗ Class imbalance (~3.4% failures) requires careful threshold tuning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rPr sz="1600" dirty="0"/>
              <a:t>✗ No persistent sink — output to console only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rPr sz="1600" dirty="0"/>
              <a:t>✗ Random Forest lacks per-prediction explainability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841248"/>
            <a:ext cx="3840480" cy="402336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846320" y="841248"/>
            <a:ext cx="3840480" cy="64008"/>
          </a:xfrm>
          <a:prstGeom prst="rect">
            <a:avLst/>
          </a:prstGeom>
          <a:solidFill>
            <a:srgbClr val="06D6A0"/>
          </a:solidFill>
          <a:ln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0" y="960120"/>
            <a:ext cx="3657600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D6A0"/>
                </a:solidFill>
              </a:defRPr>
            </a:pPr>
            <a:r>
              <a:rPr sz="1600" dirty="0"/>
              <a:t>Future Extensions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rPr sz="1600" dirty="0"/>
              <a:t>✓ Connect to live edge devices / MQTT gateways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rPr sz="1600" dirty="0"/>
              <a:t>✓ Scale across a multi-node Apache Spark cluster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rPr sz="1600" dirty="0"/>
              <a:t>✓ Apply SMOTE or advanced oversampling techniques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rPr sz="1600" dirty="0"/>
              <a:t>✓ Persist results to Cassandra, MongoDB, or </a:t>
            </a:r>
            <a:r>
              <a:rPr sz="1600" dirty="0" err="1"/>
              <a:t>PowerBI</a:t>
            </a:r>
            <a:endParaRPr sz="1600" dirty="0"/>
          </a:p>
          <a:p>
            <a:pPr>
              <a:defRPr sz="1100">
                <a:solidFill>
                  <a:srgbClr val="CBD5E1"/>
                </a:solidFill>
              </a:defRPr>
            </a:pPr>
            <a:r>
              <a:rPr sz="1600" dirty="0"/>
              <a:t>✓ Integrate SHAP values for real-time explainable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Calibri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089136" y="0"/>
            <a:ext cx="54864" cy="5143500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00B4D8"/>
                </a:solidFill>
              </a:defRPr>
            </a:pPr>
            <a:r>
              <a:rPr dirty="0"/>
              <a:t>Questions &amp; Answers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606040"/>
            <a:ext cx="3200400" cy="27432"/>
          </a:xfrm>
          <a:prstGeom prst="rect">
            <a:avLst/>
          </a:prstGeom>
          <a:solidFill>
            <a:srgbClr val="0096C7"/>
          </a:solidFill>
          <a:ln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502920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dirty="0"/>
              <a:t>Real-Time IoT Sensor Data Processing Pipel</a:t>
            </a:r>
            <a:r>
              <a:rPr lang="en-US" dirty="0"/>
              <a:t>ine</a:t>
            </a:r>
            <a:endParaRPr dirty="0"/>
          </a:p>
          <a:p>
            <a:pPr>
              <a:defRPr sz="1100">
                <a:solidFill>
                  <a:srgbClr val="CBD5E1"/>
                </a:solidFill>
              </a:defRPr>
            </a:pPr>
            <a:r>
              <a:rPr dirty="0"/>
              <a:t>Built with </a:t>
            </a:r>
            <a:r>
              <a:rPr lang="en-US" dirty="0"/>
              <a:t>Apache Spark,</a:t>
            </a:r>
            <a:r>
              <a:rPr dirty="0"/>
              <a:t> Apache Kafka, and Spark </a:t>
            </a:r>
            <a:r>
              <a:rPr dirty="0" err="1"/>
              <a:t>MLlib</a:t>
            </a:r>
            <a:br>
              <a:rPr dirty="0"/>
            </a:br>
            <a:br>
              <a:rPr dirty="0"/>
            </a:br>
            <a:r>
              <a:rPr dirty="0"/>
              <a:t>Presenters: Fatima &amp; Maryam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Calibri"/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1024</Words>
  <Application>Microsoft Office PowerPoint</Application>
  <PresentationFormat>On-screen Show (16:9)</PresentationFormat>
  <Paragraphs>242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Calibri </vt:lpstr>
      <vt:lpstr>Calibri Light</vt:lpstr>
      <vt:lpstr>Office Theme</vt:lpstr>
      <vt:lpstr>1_Office Theme</vt:lpstr>
      <vt:lpstr>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L1F23BSDS0040 - Fatima</cp:lastModifiedBy>
  <cp:revision>2</cp:revision>
  <dcterms:created xsi:type="dcterms:W3CDTF">2013-01-27T09:14:16Z</dcterms:created>
  <dcterms:modified xsi:type="dcterms:W3CDTF">2026-05-25T12:45:51Z</dcterms:modified>
  <cp:category/>
</cp:coreProperties>
</file>